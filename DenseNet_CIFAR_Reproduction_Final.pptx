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1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1d2646f374f4682" /><Relationship Type="http://schemas.openxmlformats.org/officeDocument/2006/relationships/extended-properties" Target="/docProps/app.xml" Id="Rb350e4b12ad148f1" /><Relationship Type="http://schemas.openxmlformats.org/officeDocument/2006/relationships/officeDocument" Target="/ppt/presentation.xml" Id="R391a36097247464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53cb2e34f1144f9"/>
  </p:sldMasterIdLst>
  <p:notesMasterIdLst>
    <p:notesMasterId xmlns:r="http://schemas.openxmlformats.org/officeDocument/2006/relationships" r:id="R53b1927e11214d4a"/>
  </p:notesMasterIdLst>
  <p:sldIdLst>
    <p:sldId xmlns:r="http://schemas.openxmlformats.org/officeDocument/2006/relationships" id="256" r:id="R8b4b838668b94ce3"/>
    <p:sldId xmlns:r="http://schemas.openxmlformats.org/officeDocument/2006/relationships" id="257" r:id="Rd860baa4e3e84381"/>
    <p:sldId xmlns:r="http://schemas.openxmlformats.org/officeDocument/2006/relationships" id="258" r:id="R254eb5b940984d65"/>
    <p:sldId xmlns:r="http://schemas.openxmlformats.org/officeDocument/2006/relationships" id="259" r:id="R40ae2be15bd84abd"/>
    <p:sldId xmlns:r="http://schemas.openxmlformats.org/officeDocument/2006/relationships" id="260" r:id="Rfdd855618d4d494f"/>
    <p:sldId xmlns:r="http://schemas.openxmlformats.org/officeDocument/2006/relationships" id="261" r:id="R16e59ca576344a69"/>
    <p:sldId xmlns:r="http://schemas.openxmlformats.org/officeDocument/2006/relationships" id="262" r:id="R6c4d55151cc745cf"/>
    <p:sldId xmlns:r="http://schemas.openxmlformats.org/officeDocument/2006/relationships" id="263" r:id="R53818dc7a6594c9e"/>
    <p:sldId xmlns:r="http://schemas.openxmlformats.org/officeDocument/2006/relationships" id="264" r:id="R7ea4b3c061134f72"/>
    <p:sldId xmlns:r="http://schemas.openxmlformats.org/officeDocument/2006/relationships" id="265" r:id="R67c93aed685f4421"/>
    <p:sldId xmlns:r="http://schemas.openxmlformats.org/officeDocument/2006/relationships" id="266" r:id="R433ec85b229c4e54"/>
    <p:sldId xmlns:r="http://schemas.openxmlformats.org/officeDocument/2006/relationships" id="267" r:id="R46380fb3ed26434b"/>
    <p:sldId xmlns:r="http://schemas.openxmlformats.org/officeDocument/2006/relationships" id="268" r:id="Rbcf9705733cc4bc4"/>
    <p:sldId xmlns:r="http://schemas.openxmlformats.org/officeDocument/2006/relationships" id="269" r:id="Ra8eaf609f1f6457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6aae104d45744de" /><Relationship Type="http://schemas.openxmlformats.org/officeDocument/2006/relationships/slideMaster" Target="/ppt/slideMasters/slideMaster1.xml" Id="R453cb2e34f1144f9" /><Relationship Type="http://schemas.openxmlformats.org/officeDocument/2006/relationships/notesMaster" Target="/ppt/notesMasters/notesMaster1.xml" Id="R53b1927e11214d4a" /><Relationship Type="http://schemas.openxmlformats.org/officeDocument/2006/relationships/presProps" Target="/ppt/presProps.xml" Id="Rdde06e3331f94769" /><Relationship Type="http://schemas.openxmlformats.org/officeDocument/2006/relationships/tableStyles" Target="/ppt/tableStyles.xml" Id="R89b1f5301b7e4072" /><Relationship Type="http://schemas.openxmlformats.org/officeDocument/2006/relationships/slide" Target="/ppt/slides/slide1.xml" Id="R8b4b838668b94ce3" /><Relationship Type="http://schemas.openxmlformats.org/officeDocument/2006/relationships/slide" Target="/ppt/slides/slide2.xml" Id="Rd860baa4e3e84381" /><Relationship Type="http://schemas.openxmlformats.org/officeDocument/2006/relationships/slide" Target="/ppt/slides/slide3.xml" Id="R254eb5b940984d65" /><Relationship Type="http://schemas.openxmlformats.org/officeDocument/2006/relationships/slide" Target="/ppt/slides/slide4.xml" Id="R40ae2be15bd84abd" /><Relationship Type="http://schemas.openxmlformats.org/officeDocument/2006/relationships/slide" Target="/ppt/slides/slide5.xml" Id="Rfdd855618d4d494f" /><Relationship Type="http://schemas.openxmlformats.org/officeDocument/2006/relationships/slide" Target="/ppt/slides/slide6.xml" Id="R16e59ca576344a69" /><Relationship Type="http://schemas.openxmlformats.org/officeDocument/2006/relationships/slide" Target="/ppt/slides/slide7.xml" Id="R6c4d55151cc745cf" /><Relationship Type="http://schemas.openxmlformats.org/officeDocument/2006/relationships/slide" Target="/ppt/slides/slide8.xml" Id="R53818dc7a6594c9e" /><Relationship Type="http://schemas.openxmlformats.org/officeDocument/2006/relationships/slide" Target="/ppt/slides/slide9.xml" Id="R7ea4b3c061134f72" /><Relationship Type="http://schemas.openxmlformats.org/officeDocument/2006/relationships/slide" Target="/ppt/slides/slide10.xml" Id="R67c93aed685f4421" /><Relationship Type="http://schemas.openxmlformats.org/officeDocument/2006/relationships/slide" Target="/ppt/slides/slide11.xml" Id="R433ec85b229c4e54" /><Relationship Type="http://schemas.openxmlformats.org/officeDocument/2006/relationships/slide" Target="/ppt/slides/slide12.xml" Id="R46380fb3ed26434b" /><Relationship Type="http://schemas.openxmlformats.org/officeDocument/2006/relationships/slide" Target="/ppt/slides/slide13.xml" Id="Rbcf9705733cc4bc4" /><Relationship Type="http://schemas.openxmlformats.org/officeDocument/2006/relationships/slide" Target="/ppt/slides/slide14.xml" Id="Ra8eaf609f1f6457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3564f08b0f5490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63a657e8db243e7" /><Relationship Type="http://schemas.openxmlformats.org/officeDocument/2006/relationships/notesMaster" Target="/ppt/notesMasters/notesMaster1.xml" Id="R82c86951550c40f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9f7eb2402b8430a" /><Relationship Type="http://schemas.openxmlformats.org/officeDocument/2006/relationships/notesMaster" Target="/ppt/notesMasters/notesMaster1.xml" Id="Rd0a28520cdf640d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b53478f03b54563" /><Relationship Type="http://schemas.openxmlformats.org/officeDocument/2006/relationships/notesMaster" Target="/ppt/notesMasters/notesMaster1.xml" Id="Rec1804d29e0245c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9f13aa28f5f4d1f" /><Relationship Type="http://schemas.openxmlformats.org/officeDocument/2006/relationships/notesMaster" Target="/ppt/notesMasters/notesMaster1.xml" Id="R246d8971768d430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26869848cd84bd4" /><Relationship Type="http://schemas.openxmlformats.org/officeDocument/2006/relationships/notesMaster" Target="/ppt/notesMasters/notesMaster1.xml" Id="R9bb79ace661d445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1e4c9a60fc045f4" /><Relationship Type="http://schemas.openxmlformats.org/officeDocument/2006/relationships/notesMaster" Target="/ppt/notesMasters/notesMaster1.xml" Id="R083ca45a6c5d490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e8d078778994129" /><Relationship Type="http://schemas.openxmlformats.org/officeDocument/2006/relationships/notesMaster" Target="/ppt/notesMasters/notesMaster1.xml" Id="R9a6caa783c1a4aa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2c6905b171d4080" /><Relationship Type="http://schemas.openxmlformats.org/officeDocument/2006/relationships/notesMaster" Target="/ppt/notesMasters/notesMaster1.xml" Id="R7bc0f7842ef448f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d6a3b52437d4de6" /><Relationship Type="http://schemas.openxmlformats.org/officeDocument/2006/relationships/notesMaster" Target="/ppt/notesMasters/notesMaster1.xml" Id="R4175a7be94a640a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b4c92a84b674176" /><Relationship Type="http://schemas.openxmlformats.org/officeDocument/2006/relationships/notesMaster" Target="/ppt/notesMasters/notesMaster1.xml" Id="Re3dbb1d2181f4e1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e483afc1b5e48cb" /><Relationship Type="http://schemas.openxmlformats.org/officeDocument/2006/relationships/notesMaster" Target="/ppt/notesMasters/notesMaster1.xml" Id="R53a387f0ddc84e1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c04a15082e5460a" /><Relationship Type="http://schemas.openxmlformats.org/officeDocument/2006/relationships/notesMaster" Target="/ppt/notesMasters/notesMaster1.xml" Id="Rd29c9ae05cbf45e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a31500206cf4579" /><Relationship Type="http://schemas.openxmlformats.org/officeDocument/2006/relationships/notesMaster" Target="/ppt/notesMasters/notesMaster1.xml" Id="R8e395b7da7f34f8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432b2bf963a460d" /><Relationship Type="http://schemas.openxmlformats.org/officeDocument/2006/relationships/notesMaster" Target="/ppt/notesMasters/notesMaster1.xml" Id="R799ae2b165af465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開場先定義這不是一般實作展示，而是可被逐項稽核的正式 reproduction。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docs/final_reproduction_report.md</a:t>
            </a:r>
          </a:p>
          <a:p xmlns:a="http://schemas.openxmlformats.org/drawingml/2006/main">
            <a:r>
              <a:t>- docs/1608.06993v5.pdf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重點不是把數字說成一樣，而是先完整報告三次結果、平均與差距。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docs/1608.06993v5.pdf, PDF p.5, Table 2</a:t>
            </a:r>
          </a:p>
          <a:p xmlns:a="http://schemas.openxmlformats.org/drawingml/2006/main">
            <a:r>
              <a:t>- evidence/phase6_aggregate_verification_2026-08-28.json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中括號是 channel concatenation。舊 features 保持獨立，新層只新增 growth rate k 個 channels。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docs/1608.06993v5.pdf, PDF p.3, Eq. (2)</a:t>
            </a:r>
          </a:p>
          <a:p xmlns:a="http://schemas.openxmlformats.org/drawingml/2006/main">
            <a:r>
              <a:t>- docs/reproduction_spec.md, Section 4.1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比較的重點不是哪個一定比較好，而是資訊合併方式不同，帶來不同的參數與記憶體特性。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docs/1608.06993v5.pdf, Sections 2-3</a:t>
            </a:r>
          </a:p>
          <a:p xmlns:a="http://schemas.openxmlformats.org/drawingml/2006/main">
            <a:r>
              <a:t>- docs/reproduction_spec.md, Section 4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 先用 1x1 將 growing input 投影到 4k；C 在 transition 用 floor(0.5m) 壓縮。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docs/1608.06993v5.pdf, PDF p.4</a:t>
            </a:r>
          </a:p>
          <a:p xmlns:a="http://schemas.openxmlformats.org/drawingml/2006/main">
            <a:r>
              <a:t>- docs/reproduction_spec.md, Sections 4.2-4.5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UNKNOWN 不是缺點的掩飾，而是防止用記憶或慣例補上未公開資訊。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AGENTS.md, Evidence-first rules</a:t>
            </a:r>
          </a:p>
          <a:p xmlns:a="http://schemas.openxmlformats.org/drawingml/2006/main">
            <a:r>
              <a:t>- docs/final_evidence_index.md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這張表是 formal baseline 的簡化版。每一項在第一個正式 optimizer call 前已有 hash-bound 設定。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config/formal_config.json</a:t>
            </a:r>
          </a:p>
          <a:p xmlns:a="http://schemas.openxmlformats.org/drawingml/2006/main">
            <a:r>
              <a:t>- evidence/phase6_ledger_performance_corrective_manifest_candidate.json</a:t>
            </a:r>
          </a:p>
          <a:p xmlns:a="http://schemas.openxmlformats.org/drawingml/2006/main">
            <a:r>
              <a:t>- docs/reproduction_spec.md, Sections 5-8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Runner 在任何 test bytes 存取前驗證三個 epoch-300 training artifacts；順序錯誤就 fail closed。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evidence/formal_decisions/d046_phase6_entry_v3.json</a:t>
            </a:r>
          </a:p>
          <a:p xmlns:a="http://schemas.openxmlformats.org/drawingml/2006/main">
            <a:r>
              <a:t>- src/densenet_reproduction/formal_evaluation.py</a:t>
            </a:r>
          </a:p>
          <a:p xmlns:a="http://schemas.openxmlformats.org/drawingml/2006/main">
            <a:r>
              <a:t>- docs/final_evidence_index.md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三個 seeds 的 ledger、progress 與 checkpoints 都有相同結構與完整數量。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evidence/phase6_seed1_completion_verification_2026-08-26.json</a:t>
            </a:r>
          </a:p>
          <a:p xmlns:a="http://schemas.openxmlformats.org/drawingml/2006/main">
            <a:r>
              <a:t>- evidence/phase6_seed2_completion_verification_2026-08-27.json</a:t>
            </a:r>
          </a:p>
          <a:p xmlns:a="http://schemas.openxmlformats.org/drawingml/2006/main">
            <a:r>
              <a:t>- evidence/phase6_seed3_completion_verification_2026-08-28.json</a:t>
            </a:r>
          </a:p>
          <a:p xmlns:a="http://schemas.openxmlformats.org/drawingml/2006/main">
            <a:r>
              <a:t>- evidence/phase6_seed1_final_test_verification_2026-08-28.json</a:t>
            </a:r>
          </a:p>
          <a:p xmlns:a="http://schemas.openxmlformats.org/drawingml/2006/main">
            <a:r>
              <a:t>- evidence/phase6_seed2_final_test_verification_2026-08-28.json</a:t>
            </a:r>
          </a:p>
          <a:p xmlns:a="http://schemas.openxmlformats.org/drawingml/2006/main">
            <a:r>
              <a:t>- evidence/phase6_seed3_final_test_verification_2026-08-28.json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黑色是 paper reference；淺藍是三個 formal seeds；深藍是預先固定的 arithmetic mean。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docs/1608.06993v5.pdf, PDF p.5, Table 2</a:t>
            </a:r>
          </a:p>
          <a:p xmlns:a="http://schemas.openxmlformats.org/drawingml/2006/main">
            <a:r>
              <a:t>- evidence/phase6_aggregate_verification_2026-08-28.json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這是 primary PDF 的直接畫面。4.51% 是比較值，不是調參目標。因 paper 沒提供 variance，不能做統計等價結論。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docs/1608.06993v5.pdf, PDF p.5, Table 2</a:t>
            </a:r>
          </a:p>
          <a:p xmlns:a="http://schemas.openxmlformats.org/drawingml/2006/main">
            <a:r>
              <a:t>- docs/reproduction_spec.md, Sections 2-3 and 8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這些 corrections 都發生在最終三-run baseline 之前。Abandoned artifacts 留存，但不能 resume、migrate 或進入 aggregate。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docs/decision_log.md, D-028, D-039, D-043-D-046</a:t>
            </a:r>
          </a:p>
          <a:p xmlns:a="http://schemas.openxmlformats.org/drawingml/2006/main">
            <a:r>
              <a:t>- docs/final_reproduction_report.md, Section 5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畫面使用短 hash 方便閱讀；final evidence index 保存完整值與路徑。任一身份不符，runner fail closed。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docs/final_evidence_index.md</a:t>
            </a:r>
          </a:p>
          <a:p xmlns:a="http://schemas.openxmlformats.org/drawingml/2006/main">
            <a:r>
              <a:t>- evidence/phase6_aggregate_verification_2026-08-28.json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結論要同時包含成果與界線：接近論文、程序可信、差距透明、沒有事後調整。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docs/final_reproduction_report.md</a:t>
            </a:r>
          </a:p>
          <a:p xmlns:a="http://schemas.openxmlformats.org/drawingml/2006/main">
            <a:r>
              <a:t>- docs/professor_defense_qa.md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f8cb6cd15849b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604232b40414b0d" /><Relationship Type="http://schemas.openxmlformats.org/officeDocument/2006/relationships/slideLayout" Target="/ppt/slideLayouts/slideLayout1.xml" Id="R50ba5300f6a94f0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0ba5300f6a94f0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13f3989aa74547" /><Relationship Type="http://schemas.openxmlformats.org/officeDocument/2006/relationships/notesSlide" Target="/ppt/notesSlides/notesSlide1.xml" Id="R3d52229a27ce4c7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8cade0996c48f5" /><Relationship Type="http://schemas.openxmlformats.org/officeDocument/2006/relationships/notesSlide" Target="/ppt/notesSlides/notesSlide2.xml" Id="R294a71e1a8c64d1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5dba3ce2584e0a" /><Relationship Type="http://schemas.openxmlformats.org/officeDocument/2006/relationships/notesSlide" Target="/ppt/notesSlides/notesSlide3.xml" Id="Rb1fc5e387258405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6c0354f8934d28" /><Relationship Type="http://schemas.openxmlformats.org/officeDocument/2006/relationships/notesSlide" Target="/ppt/notesSlides/notesSlide4.xml" Id="Rc2d1c6eac4544a9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503756555e453b" /><Relationship Type="http://schemas.openxmlformats.org/officeDocument/2006/relationships/notesSlide" Target="/ppt/notesSlides/notesSlide5.xml" Id="Ree015978507d4c4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b2514754dc4653" /><Relationship Type="http://schemas.openxmlformats.org/officeDocument/2006/relationships/notesSlide" Target="/ppt/notesSlides/notesSlide6.xml" Id="R0a662888c82e4cf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6b2ef95c1c45dd" /><Relationship Type="http://schemas.openxmlformats.org/officeDocument/2006/relationships/notesSlide" Target="/ppt/notesSlides/notesSlide7.xml" Id="Rc894fdb61b4b42d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8df68b2d3444eb" /><Relationship Type="http://schemas.openxmlformats.org/officeDocument/2006/relationships/notesSlide" Target="/ppt/notesSlides/notesSlide8.xml" Id="R07c686725c4a495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8cce169c784bda" /><Relationship Type="http://schemas.openxmlformats.org/officeDocument/2006/relationships/notesSlide" Target="/ppt/notesSlides/notesSlide9.xml" Id="Rd0406253d2b84e4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03528f0e554d3f" /><Relationship Type="http://schemas.openxmlformats.org/officeDocument/2006/relationships/chart" Target="/ppt/slides/charts/chart1.xml" Id="R42a424c3ef18480b" /><Relationship Type="http://schemas.openxmlformats.org/officeDocument/2006/relationships/notesSlide" Target="/ppt/notesSlides/notesSlide10.xml" Id="R30f13e288c14441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fc9398cd5c46d4" /><Relationship Type="http://schemas.openxmlformats.org/officeDocument/2006/relationships/image" Target="/ppt/media/image.png" Id="Rdb6d458850f54fb9" /><Relationship Type="http://schemas.openxmlformats.org/officeDocument/2006/relationships/notesSlide" Target="/ppt/notesSlides/notesSlide11.xml" Id="R5ae8695d6413449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150a78d4984f1c" /><Relationship Type="http://schemas.openxmlformats.org/officeDocument/2006/relationships/notesSlide" Target="/ppt/notesSlides/notesSlide12.xml" Id="Rfaa5fd35962c458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e2ff7ceb21404f" /><Relationship Type="http://schemas.openxmlformats.org/officeDocument/2006/relationships/notesSlide" Target="/ppt/notesSlides/notesSlide13.xml" Id="R3023227babc640f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797f4160754e7f" /><Relationship Type="http://schemas.openxmlformats.org/officeDocument/2006/relationships/notesSlide" Target="/ppt/notesSlides/notesSlide14.xml" Id="R70def91be8aa4894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Error (%)</c:v>
          </c:tx>
          <c:spPr>
            <a:solidFill xmlns:a="http://schemas.openxmlformats.org/drawingml/2006/main">
              <a:srgbClr val="6DCBF4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111111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6DCBF4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6DCBF4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6DCBF4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3D8DFF"/>
              </a:solidFill>
            </c:spPr>
          </c:dPt>
          <c:cat>
            <c:strLit>
              <c:ptCount val="5"/>
              <c:pt idx="0">
                <c:v>Paper</c:v>
              </c:pt>
              <c:pt idx="1">
                <c:v>Seed 1</c:v>
              </c:pt>
              <c:pt idx="2">
                <c:v>Seed 2</c:v>
              </c:pt>
              <c:pt idx="3">
                <c:v>Seed 3</c:v>
              </c:pt>
              <c:pt idx="4">
                <c:v>Mean</c:v>
              </c:pt>
            </c:strLit>
          </c:cat>
          <c:val>
            <c:numLit>
              <c:formatCode>0.00</c:formatCode>
              <c:ptCount val="5"/>
              <c:pt idx="0">
                <c:v>4.51</c:v>
              </c:pt>
              <c:pt idx="1">
                <c:v>4.66</c:v>
              </c:pt>
              <c:pt idx="2">
                <c:v>4.61</c:v>
              </c:pt>
              <c:pt idx="3">
                <c:v>4.81</c:v>
              </c:pt>
              <c:pt idx="4">
                <c:v>4.693333333333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111111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111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5"/>
          <c:min val="4.3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5F6368"/>
                    </a:solidFill>
                  </a:rPr>
                  <a:t>錯誤率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5F6368"/>
                  </a:solidFill>
                </a:defRPr>
              </a:pPr>
            </a:p>
          </c:txPr>
        </c:title>
        <c:numFmt formatCode="0.00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F6368"/>
                </a:solidFill>
              </a:defRPr>
            </a:pPr>
          </a:p>
        </c:txPr>
        <c:crossAx val="48650112"/>
        <c:crossBetween val="between"/>
        <c:majorUnit val="0.1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C4F39E-A65D-413F-B761-6BB0FB7DA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rPr>
              <a:t>論文重現與教授答辯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7A5500-5335-4B7C-B1C4-21AD65352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9334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defRPr sz="5250" b="1" i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5250" b="1" i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DenseNet-BC-100-12</a:t>
            </a:r>
          </a:p>
          <a:p xmlns:a="http://schemas.openxmlformats.org/drawingml/2006/main">
            <a:pPr algn="l">
              <a:defRPr sz="5250" b="1" i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5250" b="1" i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CIFAR-10+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7A19A5-F1EE-47E2-B085-A6FA0E9B7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762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 i="0">
                <a:solidFill>
                  <a:srgbClr val="3D8D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 i="0">
                <a:solidFill>
                  <a:srgbClr val="3D8DFF"/>
                </a:solidFill>
                <a:latin typeface="Microsoft JhengHei"/>
                <a:ea typeface="Microsoft JhengHei"/>
                <a:cs typeface="Microsoft JhengHei"/>
              </a:rPr>
              <a:t>Evidence-driven · protocol-faithful · hash-verified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EF9920-59E5-411C-9EAD-47B7B2D28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81625"/>
            <a:ext cx="7620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 i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正式結果：4.69% mean error · 論文：4.51%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F1CCCA-90C8-496B-AE0E-620263D96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912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01813083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475236-2CF7-4A69-BE19-D49CB1F09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rPr>
              <a:t>DENSENET FORMAL REPRODUCTION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5E2A99-1C39-4A64-A753-A878773CC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 i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一句話結論：接近論文，但不宣稱完全相同</a:t>
            </a:r>
          </a:p>
        </p:txBody>
      </p:sp>
      <p:cxnSp>
        <p:nvCxnSpPr>
          <p:cNvPr id="13" name=""/>
          <p:cNvCxnSpPr/>
          <p:nvPr/>
        </p:nvCxnSpPr>
        <p:spPr>
          <a:xfrm xmlns:a="http://schemas.openxmlformats.org/drawingml/2006/main">
            <a:off x="400050" y="13144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6992CA-5C13-45EA-8EFC-929F60A34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912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F4C784-7400-4CFE-9BA3-9F846C656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85950"/>
            <a:ext cx="4000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450" b="1" i="0">
                <a:solidFill>
                  <a:srgbClr val="3D8D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6450" b="1" i="0">
                <a:solidFill>
                  <a:srgbClr val="3D8DFF"/>
                </a:solidFill>
                <a:latin typeface="Microsoft JhengHei"/>
                <a:ea typeface="Microsoft JhengHei"/>
                <a:cs typeface="Microsoft JhengHei"/>
              </a:rPr>
              <a:t>4.69%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FD7BC2-0089-456B-B7C5-38E770B23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4381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rPr>
              <a:t>三個預註冊 seeds 的 frozen mean error</a:t>
            </a:r>
          </a:p>
        </p:txBody>
      </p:sp>
      <p:cxnSp>
        <p:nvCxnSpPr>
          <p:cNvPr id="17" name=""/>
          <p:cNvCxnSpPr/>
          <p:nvPr/>
        </p:nvCxnSpPr>
        <p:spPr>
          <a:xfrm xmlns:a="http://schemas.openxmlformats.org/drawingml/2006/main">
            <a:off x="5810250" y="1790700"/>
            <a:ext cx="0" cy="36004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4C976C-6117-4456-B48B-021D3D75E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24050"/>
            <a:ext cx="4095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 i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論文 4.51%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9D6236-A7C9-45A8-9D94-EE72C4CD2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67000"/>
            <a:ext cx="4095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500" b="1" i="0">
                <a:solidFill>
                  <a:srgbClr val="C241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500" b="1" i="0">
                <a:solidFill>
                  <a:srgbClr val="C2413B"/>
                </a:solidFill>
                <a:latin typeface="Microsoft JhengHei"/>
                <a:ea typeface="Microsoft JhengHei"/>
                <a:cs typeface="Microsoft JhengHei"/>
              </a:rPr>
              <a:t>+0.18 pp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AA08C1-E7CC-4564-9DE5-EA5672933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90950"/>
            <a:ext cx="4762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rPr>
              <a:t>三次結果：4.66% · 4.61% · 4.81%</a:t>
            </a:r>
          </a:p>
          <a:p xmlns:a="http://schemas.openxmlformats.org/drawingml/2006/main">
            <a:pPr algn="l">
              <a:defRPr sz="1875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rPr>
              <a:t>沒有挑 seed、best epoch 或事後 tolerance</a:t>
            </a:r>
          </a:p>
        </p:txBody>
      </p:sp>
    </p:spTree>
    <p:extLst>
      <p:ext uri="{BB962C8B-B14F-4D97-AF65-F5344CB8AC3E}">
        <p14:creationId xmlns:p14="http://schemas.microsoft.com/office/powerpoint/2010/main" val="50992783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A72BB7-CF9A-4B5C-9235-B4ABFDADC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rPr>
              <a:t>DENSENET FORMAL REPRODUCTION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3589BC-6773-4E23-9905-8A1187CED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 i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Dense connectivity 讓每層直接重用所有早期 features</a:t>
            </a:r>
          </a:p>
        </p:txBody>
      </p:sp>
      <p:cxnSp>
        <p:nvCxnSpPr>
          <p:cNvPr id="25" name=""/>
          <p:cNvCxnSpPr/>
          <p:nvPr/>
        </p:nvCxnSpPr>
        <p:spPr>
          <a:xfrm xmlns:a="http://schemas.openxmlformats.org/drawingml/2006/main">
            <a:off x="400050" y="13144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275261-D81F-4E8B-9583-2DD7062FE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912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cxnSp>
        <p:nvCxnSpPr>
          <p:cNvPr id="27" name=""/>
          <p:cNvCxnSpPr/>
          <p:nvPr/>
        </p:nvCxnSpPr>
        <p:spPr>
          <a:xfrm xmlns:a="http://schemas.openxmlformats.org/drawingml/2006/main">
            <a:off x="2667000" y="2305050"/>
            <a:ext cx="2238375" cy="20764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28" name=""/>
          <p:cNvCxnSpPr/>
          <p:nvPr/>
        </p:nvCxnSpPr>
        <p:spPr>
          <a:xfrm xmlns:a="http://schemas.openxmlformats.org/drawingml/2006/main">
            <a:off x="2667000" y="3238500"/>
            <a:ext cx="2238375" cy="11430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29" name=""/>
          <p:cNvCxnSpPr/>
          <p:nvPr/>
        </p:nvCxnSpPr>
        <p:spPr>
          <a:xfrm xmlns:a="http://schemas.openxmlformats.org/drawingml/2006/main">
            <a:off x="2667000" y="4171950"/>
            <a:ext cx="2238375" cy="2095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30" name=""/>
          <p:cNvCxnSpPr/>
          <p:nvPr/>
        </p:nvCxnSpPr>
        <p:spPr>
          <a:xfrm xmlns:a="http://schemas.openxmlformats.org/drawingml/2006/main">
            <a:off x="6381750" y="4381500"/>
            <a:ext cx="14763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11111"/>
            </a:solidFill>
            <a:prstDash val="solid"/>
          </a:ln>
        </p:spPr>
      </p:cxnSp>
      <p:cxnSp>
        <p:nvCxnSpPr>
          <p:cNvPr id="31" name=""/>
          <p:cNvCxnSpPr/>
          <p:nvPr/>
        </p:nvCxnSpPr>
        <p:spPr>
          <a:xfrm xmlns:a="http://schemas.openxmlformats.org/drawingml/2006/main">
            <a:off x="9191625" y="4381500"/>
            <a:ext cx="11906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11111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C2ABF0-E9AB-4569-A84F-87D815987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52625"/>
            <a:ext cx="1619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C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5464AE-B02D-4BFB-9F62-120CAA39D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52625"/>
            <a:ext cx="1619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00" b="1" i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 i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x₀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223A72-37CA-4E63-935F-2F4CD0CB2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86075"/>
            <a:ext cx="1619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C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C6EB90-1D1A-47E8-A994-7D2991BBD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86075"/>
            <a:ext cx="1619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00" b="1" i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 i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x₁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3A5848-4D5C-4CA2-A642-3817846AA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19525"/>
            <a:ext cx="1619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C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B4A6D2-7831-4026-922D-699F7D08D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19525"/>
            <a:ext cx="1619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00" b="1" i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 i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x₂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0E2439-7838-4962-A594-09C627F25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886200"/>
            <a:ext cx="14763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B9A00E-6A1C-437F-BB94-A8923FE82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886200"/>
            <a:ext cx="14763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 i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[x₀,x₁,x₂]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B83072-EDE7-4C89-83C9-F9E8E93D9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886200"/>
            <a:ext cx="1333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B112EE-7C19-48EB-8541-A06ED0B65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886200"/>
            <a:ext cx="1333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 i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850" b="1" i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Hₗ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BA5F6F-FC8C-4551-BB51-9955A5E95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886200"/>
            <a:ext cx="10477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3B650F-950D-4705-94C7-32A6000C2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886200"/>
            <a:ext cx="1047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+12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C6234F-505D-46B9-A78D-3C1AAF32E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381625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 i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xₗ = Hₗ([x₀, x₁, …, xₗ₋₁])</a:t>
            </a:r>
          </a:p>
        </p:txBody>
      </p:sp>
    </p:spTree>
    <p:extLst>
      <p:ext uri="{BB962C8B-B14F-4D97-AF65-F5344CB8AC3E}">
        <p14:creationId xmlns:p14="http://schemas.microsoft.com/office/powerpoint/2010/main" val="205341841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297B87-4062-4B5D-9463-9F495E5F8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rPr>
              <a:t>DENSENET FORMAL REPRODUCTION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FA4920-6C67-4649-9F71-F498C3803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 i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ResNet 做 addition；DenseNet 做 concatenation</a:t>
            </a:r>
          </a:p>
        </p:txBody>
      </p:sp>
      <p:cxnSp>
        <p:nvCxnSpPr>
          <p:cNvPr id="14" name=""/>
          <p:cNvCxnSpPr/>
          <p:nvPr/>
        </p:nvCxnSpPr>
        <p:spPr>
          <a:xfrm xmlns:a="http://schemas.openxmlformats.org/drawingml/2006/main">
            <a:off x="400050" y="13144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EE6DD4-D560-492B-87D2-BB55D2B54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912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cxnSp>
        <p:nvCxnSpPr>
          <p:cNvPr id="16" name=""/>
          <p:cNvCxnSpPr/>
          <p:nvPr/>
        </p:nvCxnSpPr>
        <p:spPr>
          <a:xfrm xmlns:a="http://schemas.openxmlformats.org/drawingml/2006/main">
            <a:off x="6096000" y="1695450"/>
            <a:ext cx="0" cy="39433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953566-F038-46A1-8130-75694FE27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 i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ResNet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2AE69E-10FE-4A26-B586-3F8AB49CF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28900"/>
            <a:ext cx="4667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3D8D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 i="0">
                <a:solidFill>
                  <a:srgbClr val="3D8DFF"/>
                </a:solidFill>
                <a:latin typeface="Microsoft JhengHei"/>
                <a:ea typeface="Microsoft JhengHei"/>
                <a:cs typeface="Microsoft JhengHei"/>
              </a:rPr>
              <a:t>xₗ = Hₗ(xₗ₋₁) + xₗ₋₁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290283-F729-411F-BACE-2FC1660D3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14750"/>
            <a:ext cx="4572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rPr>
              <a:t>• residual correction</a:t>
            </a:r>
          </a:p>
          <a:p xmlns:a="http://schemas.openxmlformats.org/drawingml/2006/main">
            <a:pPr algn="l">
              <a:defRPr sz="1875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rPr>
              <a:t>• addition 後 width 通常不變</a:t>
            </a:r>
          </a:p>
          <a:p xmlns:a="http://schemas.openxmlformats.org/drawingml/2006/main">
            <a:pPr algn="l">
              <a:defRPr sz="1875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rPr>
              <a:t>• paths 在相同 channels 上混合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58BF35-6FC4-4195-8E19-DCB96F6E6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8097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 i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DenseNet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07A801-63E5-4530-8651-4A5D3BBED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628900"/>
            <a:ext cx="4667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3D8D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 i="0">
                <a:solidFill>
                  <a:srgbClr val="3D8DFF"/>
                </a:solidFill>
                <a:latin typeface="Microsoft JhengHei"/>
                <a:ea typeface="Microsoft JhengHei"/>
                <a:cs typeface="Microsoft JhengHei"/>
              </a:rPr>
              <a:t>xₗ = Hₗ([x₀,…,xₗ₋₁])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ABC0EB-B171-4DB9-81FC-FDF13ACB7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714750"/>
            <a:ext cx="4572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rPr>
              <a:t>• direct feature reuse</a:t>
            </a:r>
          </a:p>
          <a:p xmlns:a="http://schemas.openxmlformats.org/drawingml/2006/main">
            <a:pPr algn="l">
              <a:defRPr sz="1875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rPr>
              <a:t>• 每層新增 k 個 channels</a:t>
            </a:r>
          </a:p>
          <a:p xmlns:a="http://schemas.openxmlformats.org/drawingml/2006/main">
            <a:pPr algn="l">
              <a:defRPr sz="1875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rPr>
              <a:t>• 需 B/C 控制計算與記憶體</a:t>
            </a:r>
          </a:p>
        </p:txBody>
      </p:sp>
    </p:spTree>
    <p:extLst>
      <p:ext uri="{BB962C8B-B14F-4D97-AF65-F5344CB8AC3E}">
        <p14:creationId xmlns:p14="http://schemas.microsoft.com/office/powerpoint/2010/main" val="169012992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EE228BE-DFF6-4683-90B1-F4A254107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rPr>
              <a:t>DENSENET FORMAL REPRODUCTION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3BA99F-99D7-4298-ACB6-CF096D58F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 i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BC-100-12 以 bottleneck 與 compression 控制成長</a:t>
            </a:r>
          </a:p>
        </p:txBody>
      </p:sp>
      <p:cxnSp>
        <p:nvCxnSpPr>
          <p:cNvPr id="32" name=""/>
          <p:cNvCxnSpPr/>
          <p:nvPr/>
        </p:nvCxnSpPr>
        <p:spPr>
          <a:xfrm xmlns:a="http://schemas.openxmlformats.org/drawingml/2006/main">
            <a:off x="400050" y="13144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B87396-2094-4C77-989C-1C2035586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912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cxnSp>
        <p:nvCxnSpPr>
          <p:cNvPr id="34" name=""/>
          <p:cNvCxnSpPr/>
          <p:nvPr/>
        </p:nvCxnSpPr>
        <p:spPr>
          <a:xfrm xmlns:a="http://schemas.openxmlformats.org/drawingml/2006/main">
            <a:off x="1866900" y="3143250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35" name=""/>
          <p:cNvCxnSpPr/>
          <p:nvPr/>
        </p:nvCxnSpPr>
        <p:spPr>
          <a:xfrm xmlns:a="http://schemas.openxmlformats.org/drawingml/2006/main">
            <a:off x="3619500" y="3143250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36" name=""/>
          <p:cNvCxnSpPr/>
          <p:nvPr/>
        </p:nvCxnSpPr>
        <p:spPr>
          <a:xfrm xmlns:a="http://schemas.openxmlformats.org/drawingml/2006/main">
            <a:off x="5372100" y="3143250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37" name=""/>
          <p:cNvCxnSpPr/>
          <p:nvPr/>
        </p:nvCxnSpPr>
        <p:spPr>
          <a:xfrm xmlns:a="http://schemas.openxmlformats.org/drawingml/2006/main">
            <a:off x="7124700" y="3143250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38" name=""/>
          <p:cNvCxnSpPr/>
          <p:nvPr/>
        </p:nvCxnSpPr>
        <p:spPr>
          <a:xfrm xmlns:a="http://schemas.openxmlformats.org/drawingml/2006/main">
            <a:off x="8877300" y="3143250"/>
            <a:ext cx="514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DDBA8A-E419-41EC-863F-B2C79587E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47950"/>
            <a:ext cx="1238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C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C59D9E-35BE-4D1B-ADF6-D540F3017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24150"/>
            <a:ext cx="123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700" b="1" i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 i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24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7EC641-431E-4093-9219-AD9585DD5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rPr>
              <a:t>Stem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B4A631-3056-4D44-9A7B-101361431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647950"/>
            <a:ext cx="1238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C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8AF580-A37D-47A8-BE30-7D23C8DB7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724150"/>
            <a:ext cx="123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700" b="1" i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 i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216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46D2C3-5EBE-451C-9EFE-7A0F0D4E8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8100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rPr>
              <a:t>Block 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DB182F-3955-4BAE-8570-A7D026F31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647950"/>
            <a:ext cx="1238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1901C1-6E72-406E-9253-89EBF8FAF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724150"/>
            <a:ext cx="123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700" b="1" i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 i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108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78DD78-5E91-4EC2-BD84-993D6D0C3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8100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rPr>
              <a:t>Transition 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A0D13F-6CAA-42DB-BC11-2085964D3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647950"/>
            <a:ext cx="1238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C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B74B1B-514B-44E8-9705-620BE794E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724150"/>
            <a:ext cx="123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700" b="1" i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 i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300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4D2DCB-C261-49BB-BA89-B8A855A40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8100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rPr>
              <a:t>Block 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AE9C6F-E4EF-4846-B79A-5AEBAEB3A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647950"/>
            <a:ext cx="1238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4A3022-43B6-49D8-8AC4-0C1B3146B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724150"/>
            <a:ext cx="123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700" b="1" i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 i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150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6DDB54-3CCC-44E2-9EAE-4AE5B5BB6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8100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rPr>
              <a:t>Transition 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011CCE6-6065-4145-A5F7-D9A26D984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647950"/>
            <a:ext cx="1238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C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F9ED8BB-9BCB-4844-B634-74453EAD2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724150"/>
            <a:ext cx="123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700" b="1" i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 i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342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FA64CDD-825E-4F50-A43B-219D15E20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8100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rPr>
              <a:t>Block 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F8688FD-05A7-460C-8379-7EA305427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57750"/>
            <a:ext cx="1009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 i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每個 bottleneck：1×1 conv → 48 channels；3×3 conv → 新增 12 channels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A7975C5-B8E9-49D9-BD21-47272DF28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52450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rPr>
              <a:t>3 blocks × 16 units · 精確參數數 769,162</a:t>
            </a:r>
          </a:p>
        </p:txBody>
      </p:sp>
    </p:spTree>
    <p:extLst>
      <p:ext uri="{BB962C8B-B14F-4D97-AF65-F5344CB8AC3E}">
        <p14:creationId xmlns:p14="http://schemas.microsoft.com/office/powerpoint/2010/main" val="135693404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00F5C8-01E4-496A-A048-66D35D5E2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rPr>
              <a:t>DENSENET FORMAL REPRODUCTION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2758F8-7FC2-4778-BF9F-8AF0A18EA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 i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所有重要設定都必須能追溯到證據</a:t>
            </a:r>
          </a:p>
        </p:txBody>
      </p:sp>
      <p:cxnSp>
        <p:nvCxnSpPr>
          <p:cNvPr id="31" name=""/>
          <p:cNvCxnSpPr/>
          <p:nvPr/>
        </p:nvCxnSpPr>
        <p:spPr>
          <a:xfrm xmlns:a="http://schemas.openxmlformats.org/drawingml/2006/main">
            <a:off x="400050" y="13144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A89861-2BD0-4FF5-A027-0370C451F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912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B1E0BC-BFED-437F-9F89-B7BCD2F96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38300"/>
            <a:ext cx="609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3D8D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 i="0">
                <a:solidFill>
                  <a:srgbClr val="3D8DFF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C05D4F-056D-42EA-864A-4036B4CCB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638300"/>
            <a:ext cx="485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 i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PAPER-SPECIFIED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F58F09-7B8F-459D-9DD2-A12B9A2D7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38300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rPr>
              <a:t>目標、核心 protocol、Table 2 結果</a:t>
            </a:r>
          </a:p>
        </p:txBody>
      </p:sp>
      <p:cxnSp>
        <p:nvCxnSpPr>
          <p:cNvPr id="36" name=""/>
          <p:cNvCxnSpPr/>
          <p:nvPr/>
        </p:nvCxnSpPr>
        <p:spPr>
          <a:xfrm xmlns:a="http://schemas.openxmlformats.org/drawingml/2006/main">
            <a:off x="666750" y="2171700"/>
            <a:ext cx="10477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DEDED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4B9CF0-E546-4B0B-B895-D523D2732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62200"/>
            <a:ext cx="609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3D8D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 i="0">
                <a:solidFill>
                  <a:srgbClr val="3D8DFF"/>
                </a:solidFill>
                <a:latin typeface="Microsoft JhengHei"/>
                <a:ea typeface="Microsoft JhengHei"/>
                <a:cs typeface="Microsoft JhengHei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2FEB34-5674-49B4-91A6-CBD94ABC8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362200"/>
            <a:ext cx="485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 i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OFFICIAL-CODE-SPECIFIED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E8AF45-5972-403B-A157-88CBF9CD2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62200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rPr>
              <a:t>layer 順序、資料處理、精確實作行為</a:t>
            </a:r>
          </a:p>
        </p:txBody>
      </p:sp>
      <p:cxnSp>
        <p:nvCxnSpPr>
          <p:cNvPr id="40" name=""/>
          <p:cNvCxnSpPr/>
          <p:nvPr/>
        </p:nvCxnSpPr>
        <p:spPr>
          <a:xfrm xmlns:a="http://schemas.openxmlformats.org/drawingml/2006/main">
            <a:off x="666750" y="2895600"/>
            <a:ext cx="10477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DEDED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BDB9C0-85DF-4C45-AA06-72946568A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86100"/>
            <a:ext cx="609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3D8D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 i="0">
                <a:solidFill>
                  <a:srgbClr val="3D8DFF"/>
                </a:solidFill>
                <a:latin typeface="Microsoft JhengHei"/>
                <a:ea typeface="Microsoft JhengHei"/>
                <a:cs typeface="Microsoft JhengHei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26F881-6579-42C6-B727-9D29A26B7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086100"/>
            <a:ext cx="485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HISTORICAL-DEPENDENCY-BACKED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0DA943-6271-4575-A4F6-85AE20A05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86100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rPr>
              <a:t>Torch7 SGD、BatchNorm、Linear 語義</a:t>
            </a:r>
          </a:p>
        </p:txBody>
      </p:sp>
      <p:cxnSp>
        <p:nvCxnSpPr>
          <p:cNvPr id="44" name=""/>
          <p:cNvCxnSpPr/>
          <p:nvPr/>
        </p:nvCxnSpPr>
        <p:spPr>
          <a:xfrm xmlns:a="http://schemas.openxmlformats.org/drawingml/2006/main">
            <a:off x="666750" y="3619500"/>
            <a:ext cx="10477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DEDED"/>
            </a:solidFill>
            <a:prstDash val="soli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B6D437-F024-48F4-85C7-0554320CF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0"/>
            <a:ext cx="609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3D8D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 i="0">
                <a:solidFill>
                  <a:srgbClr val="3D8DFF"/>
                </a:solidFill>
                <a:latin typeface="Microsoft JhengHei"/>
                <a:ea typeface="Microsoft JhengHei"/>
                <a:cs typeface="Microsoft JhengHei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E7742E-FE8A-4CF4-99E4-23E9DFD26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810000"/>
            <a:ext cx="485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 i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DERIVED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9FEE56-58A1-4EB8-81BB-7CAB8F4F1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10000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rPr>
              <a:t>channels、參數數、updates、差值</a:t>
            </a:r>
          </a:p>
        </p:txBody>
      </p:sp>
      <p:cxnSp>
        <p:nvCxnSpPr>
          <p:cNvPr id="48" name=""/>
          <p:cNvCxnSpPr/>
          <p:nvPr/>
        </p:nvCxnSpPr>
        <p:spPr>
          <a:xfrm xmlns:a="http://schemas.openxmlformats.org/drawingml/2006/main">
            <a:off x="666750" y="4343400"/>
            <a:ext cx="10477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DEDED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246F2B-7EA0-4A8E-806F-3C6545980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33900"/>
            <a:ext cx="609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3D8D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 i="0">
                <a:solidFill>
                  <a:srgbClr val="3D8DFF"/>
                </a:solidFill>
                <a:latin typeface="Microsoft JhengHei"/>
                <a:ea typeface="Microsoft JhengHei"/>
                <a:cs typeface="Microsoft JhengHei"/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019C9B-E662-42FA-86CC-F948BDC4A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533900"/>
            <a:ext cx="485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 i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IMPLEMENTATION-ASSUMPTION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540A99-A230-47C9-A4AD-337BFF52E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533900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rPr>
              <a:t>project seeds、RNG mapping、reporting rule</a:t>
            </a:r>
          </a:p>
        </p:txBody>
      </p:sp>
      <p:cxnSp>
        <p:nvCxnSpPr>
          <p:cNvPr id="52" name=""/>
          <p:cNvCxnSpPr/>
          <p:nvPr/>
        </p:nvCxnSpPr>
        <p:spPr>
          <a:xfrm xmlns:a="http://schemas.openxmlformats.org/drawingml/2006/main">
            <a:off x="666750" y="5067300"/>
            <a:ext cx="10477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DEDED"/>
            </a:solidFill>
            <a:prstDash val="soli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916804-7DB2-4B60-8711-72E34C084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57800"/>
            <a:ext cx="609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C241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 i="0">
                <a:solidFill>
                  <a:srgbClr val="C2413B"/>
                </a:solidFill>
                <a:latin typeface="Microsoft JhengHei"/>
                <a:ea typeface="Microsoft JhengHei"/>
                <a:cs typeface="Microsoft JhengHei"/>
              </a:rPr>
              <a:t>?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C1D06C7-A6CE-4658-8A92-B29EA75BE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57800"/>
            <a:ext cx="485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 i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UNKNOWN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1E4CFA-5790-4244-87C5-853BDCA5E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257800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rPr>
              <a:t>paper seeds、run count、exact cuDNN build</a:t>
            </a:r>
          </a:p>
        </p:txBody>
      </p:sp>
      <p:cxnSp>
        <p:nvCxnSpPr>
          <p:cNvPr id="56" name=""/>
          <p:cNvCxnSpPr/>
          <p:nvPr/>
        </p:nvCxnSpPr>
        <p:spPr>
          <a:xfrm xmlns:a="http://schemas.openxmlformats.org/drawingml/2006/main">
            <a:off x="666750" y="5791200"/>
            <a:ext cx="10477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DEDED"/>
            </a:solidFill>
            <a:prstDash val="solid"/>
          </a:ln>
        </p:spPr>
      </p:cxnSp>
    </p:spTree>
    <p:extLst>
      <p:ext uri="{BB962C8B-B14F-4D97-AF65-F5344CB8AC3E}">
        <p14:creationId xmlns:p14="http://schemas.microsoft.com/office/powerpoint/2010/main" val="13523263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B93512-8917-4250-B57E-881433688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rPr>
              <a:t>DENSENET FORMAL REPRODUCTION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77A025-9FBD-476E-A743-B84A07485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 i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Formal protocol 在看到結果前完全固定</a:t>
            </a:r>
          </a:p>
        </p:txBody>
      </p:sp>
      <p:cxnSp>
        <p:nvCxnSpPr>
          <p:cNvPr id="8" name=""/>
          <p:cNvCxnSpPr/>
          <p:nvPr/>
        </p:nvCxnSpPr>
        <p:spPr>
          <a:xfrm xmlns:a="http://schemas.openxmlformats.org/drawingml/2006/main">
            <a:off x="400050" y="13144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82F036-0FCA-4AE7-BA86-B8CFB11EE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912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rPr>
              <a:t>07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676400"/>
          <a:ext xmlns:a="http://schemas.openxmlformats.org/drawingml/2006/main" cx="10972800" cy="4000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304288"/>
                <a:gridCol w="3401568"/>
                <a:gridCol w="5266944"/>
              </a:tblGrid>
              <a:tr h="5715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項目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Frozen value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目的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/>
                        <a:t>Target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/>
                        <a:t>BC-100-12 / C10+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/>
                        <a:t>對應 paper Table 2 指定列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/>
                        <a:t>Training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/>
                        <a:t>FP32 · batch 64 · 300 epochs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/>
                        <a:t>不使用 AMP / TF32 / accumulation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/>
                        <a:t>Optimizer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/>
                        <a:t>SGD · Nesterov 0.9 · wd 1e-4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/>
                        <a:t>符合 paper + historical SGD semantics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/>
                        <a:t>Seeds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/>
                        <a:t>1021082110 · 1747066946 · 869460408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/>
                        <a:t>預註冊、依序執行、全部報告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/>
                        <a:t>Evaluation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/>
                        <a:t>epoch 300 · each seed once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/>
                        <a:t>避免 every-epoch test leakage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/>
                        <a:t>Aggregation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/>
                        <a:t>mean primary · sample SD descriptive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/>
                        <a:t>selection = none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943011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412266-131C-4E15-A0DF-8618D28D3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rPr>
              <a:t>DENSENET FORMAL REPRODUCTION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AC625E-355E-4582-9CE1-035A9C0F6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 i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Test set 直到三個訓練全部完成才解鎖</a:t>
            </a:r>
          </a:p>
        </p:txBody>
      </p:sp>
      <p:cxnSp>
        <p:nvCxnSpPr>
          <p:cNvPr id="20" name=""/>
          <p:cNvCxnSpPr/>
          <p:nvPr/>
        </p:nvCxnSpPr>
        <p:spPr>
          <a:xfrm xmlns:a="http://schemas.openxmlformats.org/drawingml/2006/main">
            <a:off x="400050" y="13144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B82590-E140-4C76-B8D9-35E5A5236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912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rPr>
              <a:t>08</a:t>
            </a:r>
          </a:p>
        </p:txBody>
      </p:sp>
      <p:cxnSp>
        <p:nvCxnSpPr>
          <p:cNvPr id="22" name=""/>
          <p:cNvCxnSpPr/>
          <p:nvPr/>
        </p:nvCxnSpPr>
        <p:spPr>
          <a:xfrm xmlns:a="http://schemas.openxmlformats.org/drawingml/2006/main">
            <a:off x="666750" y="3143250"/>
            <a:ext cx="10858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111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A9F270-CEC6-48CA-98C2-BC4F9EF15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670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540B30-F1AD-4988-92E1-3C45278D9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3D8D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 i="0">
                <a:solidFill>
                  <a:srgbClr val="3D8DFF"/>
                </a:solidFill>
                <a:latin typeface="Microsoft JhengHei"/>
                <a:ea typeface="Microsoft JhengHei"/>
                <a:cs typeface="Microsoft JhengHei"/>
              </a:rPr>
              <a:t>TRAIN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BDD0B8-492F-4537-A6D6-6AE54519C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3855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 i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三個 seeds 依序跑完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7DABBB-F703-4C94-9DB4-B379669D0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00550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rPr>
              <a:t>Seed 1 → Seed 2 → Seed 3</a:t>
            </a:r>
          </a:p>
          <a:p xmlns:a="http://schemas.openxmlformats.org/drawingml/2006/main">
            <a:pPr algn="l">
              <a:defRPr sz="1575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rPr>
              <a:t>每個 234,600 updates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B570C3-2E51-4BAD-8501-B50EE75AD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670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024B4C-4DB2-4F8C-B0FC-9A4BA4F5A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5717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3D8D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 i="0">
                <a:solidFill>
                  <a:srgbClr val="3D8DFF"/>
                </a:solidFill>
                <a:latin typeface="Microsoft JhengHei"/>
                <a:ea typeface="Microsoft JhengHei"/>
                <a:cs typeface="Microsoft JhengHei"/>
              </a:rPr>
              <a:t>VERIFY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8FC477-DB34-4CD7-B5A4-663E4958B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63855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 i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每個 epoch-300 工件重驗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62EDC2-1455-4DA4-9926-5F8443A48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400550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rPr>
              <a:t>300 checkpoints + manifests</a:t>
            </a:r>
          </a:p>
          <a:p xmlns:a="http://schemas.openxmlformats.org/drawingml/2006/main">
            <a:pPr algn="l">
              <a:defRPr sz="1575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rPr>
              <a:t>ledger unresolved = 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0BC984-0368-4467-8CA7-521D57D7C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670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B7C9C1-FDDF-44E1-B5B2-E179FDFEC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717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3D8D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 i="0">
                <a:solidFill>
                  <a:srgbClr val="3D8DFF"/>
                </a:solidFill>
                <a:latin typeface="Microsoft JhengHei"/>
                <a:ea typeface="Microsoft JhengHei"/>
                <a:cs typeface="Microsoft JhengHei"/>
              </a:rPr>
              <a:t>TEST + AGGREGATE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B0B012-9EB8-48E1-B2D9-ACFB45341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3855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 i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各測一次，再 frozen mean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0FCA4C-7C5F-4FB2-A34B-DE335A522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400550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rPr>
              <a:t>固定 seed 順序</a:t>
            </a:r>
          </a:p>
          <a:p xmlns:a="http://schemas.openxmlformats.org/drawingml/2006/main">
            <a:pPr algn="l">
              <a:defRPr sz="1575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rPr>
              <a:t>selection = none</a:t>
            </a:r>
          </a:p>
        </p:txBody>
      </p:sp>
    </p:spTree>
    <p:extLst>
      <p:ext uri="{BB962C8B-B14F-4D97-AF65-F5344CB8AC3E}">
        <p14:creationId xmlns:p14="http://schemas.microsoft.com/office/powerpoint/2010/main" val="163278476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1D2B36-5073-44F7-83FC-E1C0192B8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rPr>
              <a:t>DENSENET FORMAL REPRODUCTION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0A7DCF-6B8B-4E4C-97E8-A013BFABF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 i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三個 seeds 都完成相同的可稽核工作量</a:t>
            </a:r>
          </a:p>
        </p:txBody>
      </p:sp>
      <p:cxnSp>
        <p:nvCxnSpPr>
          <p:cNvPr id="18" name=""/>
          <p:cNvCxnSpPr/>
          <p:nvPr/>
        </p:nvCxnSpPr>
        <p:spPr>
          <a:xfrm xmlns:a="http://schemas.openxmlformats.org/drawingml/2006/main">
            <a:off x="400050" y="13144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891C9F-C80C-45A4-80EB-67B6379B9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912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43D93E-1E86-4150-9C83-CFB9B9C95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28875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4500" b="1" i="0">
                <a:solidFill>
                  <a:srgbClr val="3D8D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500" b="1" i="0">
                <a:solidFill>
                  <a:srgbClr val="3D8DFF"/>
                </a:solidFill>
                <a:latin typeface="Microsoft JhengHei"/>
                <a:ea typeface="Microsoft JhengHei"/>
                <a:cs typeface="Microsoft JhengHei"/>
              </a:rPr>
              <a:t>234,600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62B4C4-6ECE-4325-BD1F-186EB98A3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528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 i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optimizer calls / seed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647EF8-5A2C-42C6-9E25-6B686BD16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905250"/>
            <a:ext cx="2857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rPr>
              <a:t>intent = completion</a:t>
            </a:r>
          </a:p>
          <a:p xmlns:a="http://schemas.openxmlformats.org/drawingml/2006/main">
            <a:pPr algn="ctr">
              <a:defRPr sz="1425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rPr>
              <a:t>unresolved = 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A231D9-DBE2-49AB-8E13-1972AAFA5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428875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4500" b="1" i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500" b="1" i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300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70C517-07F3-4819-8580-50B2F92A1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3528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 i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checkpoints / seed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F749B0-3798-44A0-9458-550C7C5CD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905250"/>
            <a:ext cx="2857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rPr>
              <a:t>atomic publish</a:t>
            </a:r>
          </a:p>
          <a:p xmlns:a="http://schemas.openxmlformats.org/drawingml/2006/main">
            <a:pPr algn="ctr">
              <a:defRPr sz="1425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rPr>
              <a:t>SHA256 manifest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07F62C-DA21-478A-B5CD-C63E2A358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28875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4500" b="1" i="0">
                <a:solidFill>
                  <a:srgbClr val="C241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500" b="1" i="0">
                <a:solidFill>
                  <a:srgbClr val="C2413B"/>
                </a:solidFill>
                <a:latin typeface="Microsoft JhengHei"/>
                <a:ea typeface="Microsoft JhengHei"/>
                <a:cs typeface="Microsoft JhengHei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B0BF63-1FF1-4840-8CE9-B83086795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528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 i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final test / seed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71ACF5-1D1B-4632-8AF2-74E5FC60C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905250"/>
            <a:ext cx="2857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rPr>
              <a:t>10,000 records</a:t>
            </a:r>
          </a:p>
          <a:p xmlns:a="http://schemas.openxmlformats.org/drawingml/2006/main">
            <a:pPr algn="ctr">
              <a:defRPr sz="1425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rPr>
              <a:t>157 sequential batches</a:t>
            </a:r>
          </a:p>
        </p:txBody>
      </p:sp>
      <p:cxnSp>
        <p:nvCxnSpPr>
          <p:cNvPr id="29" name=""/>
          <p:cNvCxnSpPr/>
          <p:nvPr/>
        </p:nvCxnSpPr>
        <p:spPr>
          <a:xfrm xmlns:a="http://schemas.openxmlformats.org/drawingml/2006/main">
            <a:off x="4210050" y="2095500"/>
            <a:ext cx="0" cy="30956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cxnSp>
        <p:nvCxnSpPr>
          <p:cNvPr id="30" name=""/>
          <p:cNvCxnSpPr/>
          <p:nvPr/>
        </p:nvCxnSpPr>
        <p:spPr>
          <a:xfrm xmlns:a="http://schemas.openxmlformats.org/drawingml/2006/main">
            <a:off x="8067675" y="2095500"/>
            <a:ext cx="0" cy="30956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</p:spTree>
    <p:extLst>
      <p:ext uri="{BB962C8B-B14F-4D97-AF65-F5344CB8AC3E}">
        <p14:creationId xmlns:p14="http://schemas.microsoft.com/office/powerpoint/2010/main" val="129288986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706253-15C7-495F-AB4B-5C12AB1A6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rPr>
              <a:t>DENSENET FORMAL REPRODUCTION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90AC57-1FA0-4228-BC1F-E5ED262B3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 i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正式結果集中在 4.61%–4.81%</a:t>
            </a:r>
          </a:p>
        </p:txBody>
      </p:sp>
      <p:cxnSp>
        <p:nvCxnSpPr>
          <p:cNvPr id="13" name=""/>
          <p:cNvCxnSpPr/>
          <p:nvPr/>
        </p:nvCxnSpPr>
        <p:spPr>
          <a:xfrm xmlns:a="http://schemas.openxmlformats.org/drawingml/2006/main">
            <a:off x="400050" y="13144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6E0E9A-5DC4-44AC-9CA1-13A15C2DF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912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495300" y="1619250"/>
          <a:ext xmlns:a="http://schemas.openxmlformats.org/drawingml/2006/main" cx="7239000" cy="4333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2a424c3ef18480b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A6DB30-CAFE-4395-97A8-14EA25A33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0"/>
            <a:ext cx="3333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79526D-1C0D-4719-B082-A07033156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952625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225" b="1" i="0">
                <a:solidFill>
                  <a:srgbClr val="3D8D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 i="0">
                <a:solidFill>
                  <a:srgbClr val="3D8DFF"/>
                </a:solidFill>
                <a:latin typeface="Microsoft JhengHei"/>
                <a:ea typeface="Microsoft JhengHei"/>
                <a:cs typeface="Microsoft JhengHei"/>
              </a:rPr>
              <a:t>4.69%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88A354-1CE6-45D0-9876-CF5D5334F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5336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rPr>
              <a:t>frozen mean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BF5525-CC1E-4B01-B5CB-53919E5AF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476625"/>
            <a:ext cx="285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 i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Sample SD</a:t>
            </a:r>
          </a:p>
          <a:p xmlns:a="http://schemas.openxmlformats.org/drawingml/2006/main">
            <a:pPr algn="l">
              <a:defRPr sz="2325" b="1" i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 i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0.104 pp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DCFF52-3955-424C-984E-631FC1F3F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810125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C241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 i="0">
                <a:solidFill>
                  <a:srgbClr val="C2413B"/>
                </a:solidFill>
                <a:latin typeface="Microsoft JhengHei"/>
                <a:ea typeface="Microsoft JhengHei"/>
                <a:cs typeface="Microsoft JhengHei"/>
              </a:rPr>
              <a:t>沒有挑選 4.61% 當代表值</a:t>
            </a:r>
          </a:p>
        </p:txBody>
      </p:sp>
    </p:spTree>
    <p:extLst>
      <p:ext uri="{BB962C8B-B14F-4D97-AF65-F5344CB8AC3E}">
        <p14:creationId xmlns:p14="http://schemas.microsoft.com/office/powerpoint/2010/main" val="30320217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432BB3-FF68-44E3-8991-3632BBD7D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rPr>
              <a:t>DENSENET FORMAL REPRODUCTION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C6C42B-CBEB-42AC-B30C-7D807FB59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 i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Paper Table 2 的目標列是 4.51%</a:t>
            </a:r>
          </a:p>
        </p:txBody>
      </p:sp>
      <p:cxnSp>
        <p:nvCxnSpPr>
          <p:cNvPr id="12" name=""/>
          <p:cNvCxnSpPr/>
          <p:nvPr/>
        </p:nvCxnSpPr>
        <p:spPr>
          <a:xfrm xmlns:a="http://schemas.openxmlformats.org/drawingml/2006/main">
            <a:off x="400050" y="13144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B81650-7D53-48C7-8571-EE8BB347C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912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6d458850f54fb9"/>
          <a:srcRect xmlns:a="http://schemas.openxmlformats.org/drawingml/2006/main" l="0" t="28424" r="0" b="284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5300" y="1619250"/>
            <a:ext cx="7334250" cy="40957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166EEF-C0AD-48FD-898B-AAC757ED4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0"/>
            <a:ext cx="3333750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C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5401D2-8198-4884-942B-CBD81A781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114550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00" b="1" i="0">
                <a:solidFill>
                  <a:srgbClr val="C241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900" b="1" i="0">
                <a:solidFill>
                  <a:srgbClr val="C2413B"/>
                </a:solidFill>
                <a:latin typeface="Microsoft JhengHei"/>
                <a:ea typeface="Microsoft JhengHei"/>
                <a:cs typeface="Microsoft JhengHei"/>
              </a:rPr>
              <a:t>+0.18 pp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3C54B4-B2E3-4286-9FB0-17F73AC89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8765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rPr>
              <a:t>reproduction mean - paper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08F168-BB35-4134-89F2-11AE095E8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905250"/>
            <a:ext cx="3048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rPr>
              <a:t>Paper 未公開：</a:t>
            </a:r>
          </a:p>
          <a:p xmlns:a="http://schemas.openxmlformats.org/drawingml/2006/main">
            <a:pPr algn="l">
              <a:defRPr sz="1650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rPr>
              <a:t>• seed</a:t>
            </a:r>
          </a:p>
          <a:p xmlns:a="http://schemas.openxmlformats.org/drawingml/2006/main">
            <a:pPr algn="l">
              <a:defRPr sz="1650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rPr>
              <a:t>• independent-run count</a:t>
            </a:r>
          </a:p>
          <a:p xmlns:a="http://schemas.openxmlformats.org/drawingml/2006/main">
            <a:pPr algn="l">
              <a:defRPr sz="1650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rPr>
              <a:t>• variance / aggregation</a:t>
            </a:r>
          </a:p>
          <a:p xmlns:a="http://schemas.openxmlformats.org/drawingml/2006/main">
            <a:pPr algn="l">
              <a:defRPr sz="1650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rPr>
              <a:t>• exact cuDNN build</a:t>
            </a:r>
          </a:p>
        </p:txBody>
      </p:sp>
    </p:spTree>
    <p:extLst>
      <p:ext uri="{BB962C8B-B14F-4D97-AF65-F5344CB8AC3E}">
        <p14:creationId xmlns:p14="http://schemas.microsoft.com/office/powerpoint/2010/main" val="28164675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16D23F-6105-4D2C-B9DF-54DA68463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rPr>
              <a:t>DENSENET FORMAL REPRODUCTION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0F4C46-68C1-44E7-97AE-019126084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 i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工程問題被保留與修正，而不是被掩蓋</a:t>
            </a:r>
          </a:p>
        </p:txBody>
      </p:sp>
      <p:cxnSp>
        <p:nvCxnSpPr>
          <p:cNvPr id="20" name=""/>
          <p:cNvCxnSpPr/>
          <p:nvPr/>
        </p:nvCxnSpPr>
        <p:spPr>
          <a:xfrm xmlns:a="http://schemas.openxmlformats.org/drawingml/2006/main">
            <a:off x="400050" y="13144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A4B776-56F4-4AEF-80E3-2ED084353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912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</a:p>
        </p:txBody>
      </p:sp>
      <p:cxnSp>
        <p:nvCxnSpPr>
          <p:cNvPr id="22" name=""/>
          <p:cNvCxnSpPr/>
          <p:nvPr/>
        </p:nvCxnSpPr>
        <p:spPr>
          <a:xfrm xmlns:a="http://schemas.openxmlformats.org/drawingml/2006/main">
            <a:off x="666750" y="3143250"/>
            <a:ext cx="10858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111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ED07AC-3564-4F70-ACC7-EBD979537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670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413B"/>
          </a:solidFill>
          <a:ln xmlns:a="http://schemas.openxmlformats.org/drawingml/2006/main" w="9525">
            <a:solidFill>
              <a:srgbClr val="C2413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82E15F-E526-43D9-8496-143BEE722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C241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 i="0">
                <a:solidFill>
                  <a:srgbClr val="C2413B"/>
                </a:solidFill>
                <a:latin typeface="Microsoft JhengHei"/>
                <a:ea typeface="Microsoft JhengHei"/>
                <a:cs typeface="Microsoft JhengHei"/>
              </a:rPr>
              <a:t>ACL PREFLIGHT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44A157-BD79-435C-A000-8589FB8F3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3855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 i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失敗在 optimizer 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02442F-B0D2-4818-9E20-BA4597ED9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00550"/>
            <a:ext cx="304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rPr>
              <a:t>資料 bytes 不變</a:t>
            </a:r>
          </a:p>
          <a:p xmlns:a="http://schemas.openxmlformats.org/drawingml/2006/main">
            <a:pPr algn="l">
              <a:defRPr sz="1500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rPr>
              <a:t>補上 account/SID 與 read checks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BEA2F4-C69F-47D6-BC53-4F9FEEFAC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670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413B"/>
          </a:solidFill>
          <a:ln xmlns:a="http://schemas.openxmlformats.org/drawingml/2006/main" w="9525">
            <a:solidFill>
              <a:srgbClr val="C2413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7AD4CE-F48F-41CB-AF85-5EA579A97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57175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C241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 i="0">
                <a:solidFill>
                  <a:srgbClr val="C2413B"/>
                </a:solidFill>
                <a:latin typeface="Microsoft JhengHei"/>
                <a:ea typeface="Microsoft JhengHei"/>
                <a:cs typeface="Microsoft JhengHei"/>
              </a:rPr>
              <a:t>UNKNOWN INTERRUPTION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FEDB76-5AE7-412C-985F-227D6E69C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63855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 i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一次受控 rollback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83C781-63F6-4E41-ADDE-2E46EFFB7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400550"/>
            <a:ext cx="304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rPr>
              <a:t>原因保持 UNKNOWN</a:t>
            </a:r>
          </a:p>
          <a:p xmlns:a="http://schemas.openxmlformats.org/drawingml/2006/main">
            <a:pPr algn="l">
              <a:defRPr sz="1500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rPr>
              <a:t>不改寫 ledger 或 calls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94213A-40E9-4AF5-87A3-49766C8AD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670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2413B"/>
          </a:solidFill>
          <a:ln xmlns:a="http://schemas.openxmlformats.org/drawingml/2006/main" w="9525">
            <a:solidFill>
              <a:srgbClr val="C2413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7CF247-7AC0-4A01-978B-81EF375F6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71750"/>
            <a:ext cx="257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C241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 i="0">
                <a:solidFill>
                  <a:srgbClr val="C2413B"/>
                </a:solidFill>
                <a:latin typeface="Microsoft JhengHei"/>
                <a:ea typeface="Microsoft JhengHei"/>
                <a:cs typeface="Microsoft JhengHei"/>
              </a:rPr>
              <a:t>LEDGER O(n²)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B45664-07EF-4DFA-BA4B-6E3C7CF97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38550"/>
            <a:ext cx="295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 i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舊 namespace 永久 abandoned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825D6D-A3BD-4E75-81FF-02BACC432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400550"/>
            <a:ext cx="304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rPr>
              <a:t>修成 reopen 全驗 + incremental append</a:t>
            </a:r>
          </a:p>
          <a:p xmlns:a="http://schemas.openxmlformats.org/drawingml/2006/main">
            <a:pPr algn="l">
              <a:defRPr sz="1500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rPr>
              <a:t>最終 seeds 從 epoch 1 重跑</a:t>
            </a:r>
          </a:p>
        </p:txBody>
      </p:sp>
    </p:spTree>
    <p:extLst>
      <p:ext uri="{BB962C8B-B14F-4D97-AF65-F5344CB8AC3E}">
        <p14:creationId xmlns:p14="http://schemas.microsoft.com/office/powerpoint/2010/main" val="61637588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607FC5-1E14-457F-BF12-9D2492026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rPr>
              <a:t>DENSENET FORMAL REPRODUCTION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57C711-0C9E-45BD-8054-BC9B87554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1391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 i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可重跑性來自身份鎖定與完整 artifacts</a:t>
            </a:r>
          </a:p>
        </p:txBody>
      </p:sp>
      <p:cxnSp>
        <p:nvCxnSpPr>
          <p:cNvPr id="8" name=""/>
          <p:cNvCxnSpPr/>
          <p:nvPr/>
        </p:nvCxnSpPr>
        <p:spPr>
          <a:xfrm xmlns:a="http://schemas.openxmlformats.org/drawingml/2006/main">
            <a:off x="400050" y="1314450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72F195-2DB9-488C-9E42-56C3D4EF7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912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rPr>
              <a:t>13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657350"/>
          <a:ext xmlns:a="http://schemas.openxmlformats.org/drawingml/2006/main" cx="10972800" cy="4000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414016"/>
                <a:gridCol w="3730752"/>
                <a:gridCol w="4828032"/>
              </a:tblGrid>
              <a:tr h="5715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Identity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Evidence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Locked value</a:t>
                      </a:r>
                    </a:p>
                  </a:txBody>
                  <a:tcPr marL="91440" marR="91440" marT="45720" marB="45720">
                    <a:solidFill>
                      <a:srgbClr val="111111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/>
                        <a:t>Paper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/>
                        <a:t>arXiv v5 PDF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/>
                        <a:t>B55AA1AD…B096D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/>
                        <a:t>Dataset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/>
                        <a:t>Toronto CIFAR-10 binary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/>
                        <a:t>C4A38C50…A1DD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/>
                        <a:t>Config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/>
                        <a:t>canonical JSON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/>
                        <a:t>C5F1B2DA…3213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/>
                        <a:t>Freeze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/>
                        <a:t>manifest + source + wheel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/>
                        <a:t>6CC22F7D…EC26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/>
                        <a:t>Per seed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/>
                        <a:t>ledger + 300 checkpoints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/>
                        <a:t>234,600 completions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/>
                        <a:t>Result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/>
                        <a:t>3 single tests + aggregate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/>
                        <a:t>A2669C81…D46A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9666548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A1A46D-3F1D-4290-B2FB-AE0492A19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rPr>
              <a:t>FINAL DISPOSITION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BB9838-1722-4839-A51F-3C870AD0E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8096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650" b="1" i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650" b="1" i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重現的重點不是</a:t>
            </a:r>
          </a:p>
          <a:p xmlns:a="http://schemas.openxmlformats.org/drawingml/2006/main">
            <a:pPr algn="l">
              <a:defRPr sz="4650" b="1" i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650" b="1" i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把數字修到一樣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A3EDBA-D286-4CC3-A8E0-E8456DBD5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95700"/>
            <a:ext cx="952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400" b="0" i="0">
                <a:solidFill>
                  <a:srgbClr val="3D8D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0" i="0">
                <a:solidFill>
                  <a:srgbClr val="3D8DFF"/>
                </a:solidFill>
                <a:latin typeface="Microsoft JhengHei"/>
                <a:ea typeface="Microsoft JhengHei"/>
                <a:cs typeface="Microsoft JhengHei"/>
              </a:rPr>
              <a:t>而是證明每個數字如何產生，哪些已知，哪些仍未知。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33AEAB-6BFD-4049-9BB2-7D4E259CA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 i="0">
                <a:solidFill>
                  <a:srgbClr val="111111"/>
                </a:solidFill>
                <a:latin typeface="Microsoft JhengHei"/>
                <a:ea typeface="Microsoft JhengHei"/>
                <a:cs typeface="Microsoft JhengHei"/>
              </a:rPr>
              <a:t>4.69% mean error · +0.18 pp vs paper · no post-hoc tuning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D9528E-5C12-43CC-9B3B-D54F77C59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39127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 i="0">
                <a:solidFill>
                  <a:srgbClr val="5F6368"/>
                </a:solidFill>
                <a:latin typeface="Microsoft JhengHei"/>
                <a:ea typeface="Microsoft JhengHei"/>
                <a:cs typeface="Microsoft JhengHe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2103726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2026-08-28T15:18:41.4260000Z</dcterms:created>
  <dcterms:modified xsi:type="dcterms:W3CDTF">2026-08-28T15:18:41.4260000Z</dcterms:modified>
</coreProperties>
</file>